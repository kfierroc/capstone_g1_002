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j3qnZ6cBj9qiyLJ7JEATc93zAL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Model Canvas">
  <p:cSld name="Business Model Canva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idx="1" type="body"/>
          </p:nvPr>
        </p:nvSpPr>
        <p:spPr>
          <a:xfrm>
            <a:off x="309424" y="1066799"/>
            <a:ext cx="1754326" cy="34287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2" type="body"/>
          </p:nvPr>
        </p:nvSpPr>
        <p:spPr>
          <a:xfrm>
            <a:off x="2185335" y="1066800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3" type="body"/>
          </p:nvPr>
        </p:nvSpPr>
        <p:spPr>
          <a:xfrm>
            <a:off x="4067689" y="1066800"/>
            <a:ext cx="1754326" cy="34287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4" type="body"/>
          </p:nvPr>
        </p:nvSpPr>
        <p:spPr>
          <a:xfrm>
            <a:off x="5948526" y="1056067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3"/>
          <p:cNvSpPr txBox="1"/>
          <p:nvPr>
            <p:ph idx="5" type="body"/>
          </p:nvPr>
        </p:nvSpPr>
        <p:spPr>
          <a:xfrm>
            <a:off x="7835806" y="1056066"/>
            <a:ext cx="1754326" cy="34394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3"/>
          <p:cNvSpPr txBox="1"/>
          <p:nvPr>
            <p:ph idx="6" type="body"/>
          </p:nvPr>
        </p:nvSpPr>
        <p:spPr>
          <a:xfrm>
            <a:off x="2196704" y="2965800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3"/>
          <p:cNvSpPr txBox="1"/>
          <p:nvPr>
            <p:ph idx="7" type="body"/>
          </p:nvPr>
        </p:nvSpPr>
        <p:spPr>
          <a:xfrm>
            <a:off x="5952078" y="2965800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8" type="body"/>
          </p:nvPr>
        </p:nvSpPr>
        <p:spPr>
          <a:xfrm>
            <a:off x="309424" y="4876800"/>
            <a:ext cx="4561026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9" type="body"/>
          </p:nvPr>
        </p:nvSpPr>
        <p:spPr>
          <a:xfrm>
            <a:off x="5056350" y="4876800"/>
            <a:ext cx="4533783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13" type="body"/>
          </p:nvPr>
        </p:nvSpPr>
        <p:spPr>
          <a:xfrm>
            <a:off x="3962400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14" type="body"/>
          </p:nvPr>
        </p:nvSpPr>
        <p:spPr>
          <a:xfrm>
            <a:off x="5685201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idx="15" type="body"/>
          </p:nvPr>
        </p:nvSpPr>
        <p:spPr>
          <a:xfrm>
            <a:off x="7759700" y="381000"/>
            <a:ext cx="11557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3"/>
          <p:cNvSpPr txBox="1"/>
          <p:nvPr>
            <p:ph idx="16" type="body"/>
          </p:nvPr>
        </p:nvSpPr>
        <p:spPr>
          <a:xfrm>
            <a:off x="9245600" y="381000"/>
            <a:ext cx="4127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.xml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/>
        </p:nvSpPr>
        <p:spPr>
          <a:xfrm>
            <a:off x="244475" y="762000"/>
            <a:ext cx="9407525" cy="563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"/>
          <p:cNvSpPr txBox="1"/>
          <p:nvPr/>
        </p:nvSpPr>
        <p:spPr>
          <a:xfrm>
            <a:off x="247650" y="304800"/>
            <a:ext cx="257175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8" name="Google Shape;8;p2"/>
          <p:cNvSpPr txBox="1"/>
          <p:nvPr/>
        </p:nvSpPr>
        <p:spPr>
          <a:xfrm>
            <a:off x="3860800" y="184150"/>
            <a:ext cx="1403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1" lang="en-US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Diseñado para:</a:t>
            </a:r>
            <a:endParaRPr/>
          </a:p>
        </p:txBody>
      </p:sp>
      <p:sp>
        <p:nvSpPr>
          <p:cNvPr id="9" name="Google Shape;9;p2"/>
          <p:cNvSpPr txBox="1"/>
          <p:nvPr/>
        </p:nvSpPr>
        <p:spPr>
          <a:xfrm>
            <a:off x="5586412" y="180975"/>
            <a:ext cx="1403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1" lang="en-US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Diseñado por:</a:t>
            </a:r>
            <a:endParaRPr/>
          </a:p>
        </p:txBody>
      </p:sp>
      <p:sp>
        <p:nvSpPr>
          <p:cNvPr id="10" name="Google Shape;10;p2"/>
          <p:cNvSpPr txBox="1"/>
          <p:nvPr/>
        </p:nvSpPr>
        <p:spPr>
          <a:xfrm>
            <a:off x="7664450" y="180975"/>
            <a:ext cx="1214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1" lang="en-US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Fecha:</a:t>
            </a:r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9142412" y="180975"/>
            <a:ext cx="6207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0" i="1" lang="en-US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Versión:</a:t>
            </a:r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244475" y="788987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Socios clave</a:t>
            </a:r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244475" y="4572000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de costos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124075" y="788987"/>
            <a:ext cx="1751012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Actividades clave </a:t>
            </a:r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2124075" y="2649537"/>
            <a:ext cx="1751012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clave </a:t>
            </a:r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4025900" y="788987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Propuestas de valor</a:t>
            </a:r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5919787" y="782637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Relación con clientes</a:t>
            </a:r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5919787" y="2643187"/>
            <a:ext cx="17494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Canales </a:t>
            </a:r>
            <a:endParaRPr/>
          </a:p>
        </p:txBody>
      </p:sp>
      <p:sp>
        <p:nvSpPr>
          <p:cNvPr id="19" name="Google Shape;19;p2"/>
          <p:cNvSpPr txBox="1"/>
          <p:nvPr/>
        </p:nvSpPr>
        <p:spPr>
          <a:xfrm>
            <a:off x="7818437" y="788987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Segmentos de clientes</a:t>
            </a:r>
            <a:endParaRPr/>
          </a:p>
        </p:txBody>
      </p:sp>
      <p:sp>
        <p:nvSpPr>
          <p:cNvPr id="20" name="Google Shape;20;p2"/>
          <p:cNvSpPr txBox="1"/>
          <p:nvPr/>
        </p:nvSpPr>
        <p:spPr>
          <a:xfrm>
            <a:off x="4973637" y="4572000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Fuente de ingresos</a:t>
            </a:r>
            <a:endParaRPr/>
          </a:p>
        </p:txBody>
      </p:sp>
      <p:sp>
        <p:nvSpPr>
          <p:cNvPr id="21" name="Google Shape;21;p2"/>
          <p:cNvSpPr txBox="1"/>
          <p:nvPr/>
        </p:nvSpPr>
        <p:spPr>
          <a:xfrm>
            <a:off x="244475" y="762000"/>
            <a:ext cx="1879600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2124075" y="760412"/>
            <a:ext cx="1881187" cy="1882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2124075" y="2643187"/>
            <a:ext cx="1881187" cy="19288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4005262" y="762000"/>
            <a:ext cx="1879600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5884862" y="762000"/>
            <a:ext cx="1879600" cy="1882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5884862" y="2643187"/>
            <a:ext cx="1879600" cy="19288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770812" y="762000"/>
            <a:ext cx="1881187" cy="38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244475" y="4579937"/>
            <a:ext cx="4713287" cy="18208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4957762" y="4579937"/>
            <a:ext cx="4692650" cy="18208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17037" y="706437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30837" y="711200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706437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"/>
          <p:cNvPicPr preferRelativeResize="0"/>
          <p:nvPr/>
        </p:nvPicPr>
        <p:blipFill rotWithShape="1">
          <a:blip r:embed="rId4">
            <a:alphaModFix/>
          </a:blip>
          <a:srcRect b="0" l="11170" r="0" t="0"/>
          <a:stretch/>
        </p:blipFill>
        <p:spPr>
          <a:xfrm>
            <a:off x="6324600" y="4495800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237" y="706437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706437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/>
          <p:cNvPicPr preferRelativeResize="0"/>
          <p:nvPr/>
        </p:nvPicPr>
        <p:blipFill rotWithShape="1">
          <a:blip r:embed="rId7">
            <a:alphaModFix/>
          </a:blip>
          <a:srcRect b="0" l="0" r="6838" t="8023"/>
          <a:stretch/>
        </p:blipFill>
        <p:spPr>
          <a:xfrm>
            <a:off x="1676400" y="4495800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3200" y="2590800"/>
            <a:ext cx="360362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/>
          <p:cNvPicPr preferRelativeResize="0"/>
          <p:nvPr/>
        </p:nvPicPr>
        <p:blipFill rotWithShape="1">
          <a:blip r:embed="rId9">
            <a:alphaModFix/>
          </a:blip>
          <a:srcRect b="6727" l="0" r="0" t="0"/>
          <a:stretch/>
        </p:blipFill>
        <p:spPr>
          <a:xfrm>
            <a:off x="3221037" y="2590800"/>
            <a:ext cx="360362" cy="360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businessmodelgeneration.com/canvas" TargetMode="External"/><Relationship Id="rId4" Type="http://schemas.openxmlformats.org/officeDocument/2006/relationships/hyperlink" Target="https://neoschronos.com" TargetMode="External"/><Relationship Id="rId5" Type="http://schemas.openxmlformats.org/officeDocument/2006/relationships/hyperlink" Target="https://creativecommons.org/licenses/by-sa/3.0/" TargetMode="External"/><Relationship Id="rId6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1" type="body"/>
          </p:nvPr>
        </p:nvSpPr>
        <p:spPr>
          <a:xfrm>
            <a:off x="343987" y="1061238"/>
            <a:ext cx="17541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Cuerpos de Bomberos.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Municipalidades.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Instituciones de seguridad y emergencias.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Juntas de vecinos / comunidad para registro de viviendas.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900"/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58" name="Google Shape;58;p1"/>
          <p:cNvSpPr txBox="1"/>
          <p:nvPr>
            <p:ph idx="1" type="body"/>
          </p:nvPr>
        </p:nvSpPr>
        <p:spPr>
          <a:xfrm>
            <a:off x="2185975" y="1017650"/>
            <a:ext cx="1754100" cy="157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Desarrollo y mantención de la plataforma (web y app).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Integración de bases de datos de viviendas y residentes.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Gestión de seguridad y respaldo de datos.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Actualización constante de datos de viviendas.</a:t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59" name="Google Shape;59;p1"/>
          <p:cNvSpPr txBox="1"/>
          <p:nvPr>
            <p:ph idx="1" type="body"/>
          </p:nvPr>
        </p:nvSpPr>
        <p:spPr>
          <a:xfrm>
            <a:off x="4067175" y="1066800"/>
            <a:ext cx="1754187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Proveer información inmediata y confiable sobre viviendas y residentes para apoyar la toma de decisiones en emergencias.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Reducir tiempos de respuesta y aumentar la seguridad de bomberos y ciudadanos.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Facilitar acceso a datos relevantes (residentes, mascotas, personas con movilidad reducida, materiales peligrosos, etc.).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Plataforma web y móvil con información actualizada en tiempo real.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Integración con mapas (Google Maps) para visualización geolocalizada.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900"/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60" name="Google Shape;60;p1"/>
          <p:cNvSpPr txBox="1"/>
          <p:nvPr>
            <p:ph idx="1" type="body"/>
          </p:nvPr>
        </p:nvSpPr>
        <p:spPr>
          <a:xfrm>
            <a:off x="5948362" y="1055687"/>
            <a:ext cx="1754187" cy="1530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Capacitación inicial a bomberos.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Soporte técnico 24/7.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Portal de autogestión para residentes.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900"/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7835900" y="1055687"/>
            <a:ext cx="1754187" cy="3440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8080"/>
                </a:solidFill>
              </a:rPr>
              <a:t>- </a:t>
            </a:r>
            <a:r>
              <a:rPr lang="en-US">
                <a:solidFill>
                  <a:srgbClr val="808080"/>
                </a:solidFill>
              </a:rPr>
              <a:t>Cuerpos de Bomberos de Chile (cliente principal).</a:t>
            </a:r>
            <a:br>
              <a:rPr lang="en-US">
                <a:solidFill>
                  <a:srgbClr val="808080"/>
                </a:solidFill>
              </a:rPr>
            </a:br>
            <a:endParaRPr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8080"/>
                </a:solidFill>
              </a:rPr>
              <a:t>- Municipalidades que busquen modernizar su gestión de riesgos.</a:t>
            </a:r>
            <a:br>
              <a:rPr lang="en-US">
                <a:solidFill>
                  <a:srgbClr val="808080"/>
                </a:solidFill>
              </a:rPr>
            </a:br>
            <a:endParaRPr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8080"/>
                </a:solidFill>
              </a:rPr>
              <a:t>- Organizaciones de emergencias (SAMU, Carabineros).</a:t>
            </a:r>
            <a:br>
              <a:rPr lang="en-US">
                <a:solidFill>
                  <a:srgbClr val="808080"/>
                </a:solidFill>
              </a:rPr>
            </a:br>
            <a:endParaRPr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8080"/>
                </a:solidFill>
              </a:rPr>
              <a:t>- Comunidad / Vecinos registrando viviendas (usuarios indirectos).</a:t>
            </a:r>
            <a:br>
              <a:rPr lang="en-US">
                <a:solidFill>
                  <a:srgbClr val="808080"/>
                </a:solidFill>
              </a:rPr>
            </a:br>
            <a:endParaRPr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8080"/>
                </a:solidFill>
              </a:rPr>
              <a:t>- Administradores de condominios o juntas de vecinos.</a:t>
            </a:r>
            <a:endParaRPr>
              <a:solidFill>
                <a:srgbClr val="8080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900"/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62" name="Google Shape;62;p1"/>
          <p:cNvSpPr txBox="1"/>
          <p:nvPr>
            <p:ph idx="1" type="body"/>
          </p:nvPr>
        </p:nvSpPr>
        <p:spPr>
          <a:xfrm>
            <a:off x="2185938" y="2966613"/>
            <a:ext cx="1754100" cy="153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Equipo de desarrollo (Flutter, Supabase, Backend).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Arquitectura en la nube.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Base de datos centralizada.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Mapas y servicios de geolocalización.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919191"/>
              </a:buClr>
              <a:buSzPts val="900"/>
              <a:buNone/>
            </a:pPr>
            <a:r>
              <a:rPr b="0" i="0" lang="en-US" sz="900" u="none">
                <a:solidFill>
                  <a:srgbClr val="91919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63" name="Google Shape;63;p1"/>
          <p:cNvSpPr txBox="1"/>
          <p:nvPr>
            <p:ph idx="1" type="body"/>
          </p:nvPr>
        </p:nvSpPr>
        <p:spPr>
          <a:xfrm>
            <a:off x="5951525" y="2983625"/>
            <a:ext cx="1754100" cy="151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Plataforma web FireData (panel administrativo).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Aplicación móvil (uso en emergencias).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Integración con APIs (Google Maps).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</p:txBody>
      </p:sp>
      <p:sp>
        <p:nvSpPr>
          <p:cNvPr id="64" name="Google Shape;64;p1"/>
          <p:cNvSpPr txBox="1"/>
          <p:nvPr>
            <p:ph idx="1" type="body"/>
          </p:nvPr>
        </p:nvSpPr>
        <p:spPr>
          <a:xfrm>
            <a:off x="304775" y="4866425"/>
            <a:ext cx="4560900" cy="14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Desarrollo y mantención del software.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Costos de servidores.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Capacitación y soporte.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Seguridad informática.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Licencias o uso de APIs externas (Google Maps).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65" name="Google Shape;65;p1"/>
          <p:cNvSpPr txBox="1"/>
          <p:nvPr>
            <p:ph idx="1" type="body"/>
          </p:nvPr>
        </p:nvSpPr>
        <p:spPr>
          <a:xfrm>
            <a:off x="5056175" y="5025225"/>
            <a:ext cx="4533900" cy="129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</a:t>
            </a:r>
            <a:r>
              <a:rPr lang="en-US">
                <a:solidFill>
                  <a:srgbClr val="919191"/>
                </a:solidFill>
              </a:rPr>
              <a:t>Suscripción mensual para municipalidades.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Licencias anuales para cuerpos de bomberos.</a:t>
            </a:r>
            <a:br>
              <a:rPr lang="en-US">
                <a:solidFill>
                  <a:srgbClr val="919191"/>
                </a:solidFill>
              </a:rPr>
            </a:br>
            <a:endParaRPr>
              <a:solidFill>
                <a:srgbClr val="91919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19191"/>
                </a:solidFill>
              </a:rPr>
              <a:t>- Financiamiento estatal o fondos de innovación.</a:t>
            </a:r>
            <a:endParaRPr>
              <a:solidFill>
                <a:srgbClr val="91919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900"/>
              <a:buNone/>
            </a:pPr>
            <a:r>
              <a:t/>
            </a:r>
            <a:endParaRPr>
              <a:solidFill>
                <a:srgbClr val="919191"/>
              </a:solidFill>
            </a:endParaRPr>
          </a:p>
        </p:txBody>
      </p:sp>
      <p:sp>
        <p:nvSpPr>
          <p:cNvPr id="66" name="Google Shape;66;p1"/>
          <p:cNvSpPr txBox="1"/>
          <p:nvPr>
            <p:ph idx="1" type="body"/>
          </p:nvPr>
        </p:nvSpPr>
        <p:spPr>
          <a:xfrm>
            <a:off x="3962400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/>
              <a:t>Capstone</a:t>
            </a:r>
            <a:endParaRPr/>
          </a:p>
        </p:txBody>
      </p:sp>
      <p:sp>
        <p:nvSpPr>
          <p:cNvPr id="67" name="Google Shape;67;p1"/>
          <p:cNvSpPr txBox="1"/>
          <p:nvPr>
            <p:ph idx="1" type="body"/>
          </p:nvPr>
        </p:nvSpPr>
        <p:spPr>
          <a:xfrm>
            <a:off x="5684824" y="381000"/>
            <a:ext cx="16827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/>
              <a:t>Kevin Fierro, Ignacio Pinares</a:t>
            </a:r>
            <a:endParaRPr/>
          </a:p>
        </p:txBody>
      </p:sp>
      <p:sp>
        <p:nvSpPr>
          <p:cNvPr id="68" name="Google Shape;68;p1"/>
          <p:cNvSpPr txBox="1"/>
          <p:nvPr>
            <p:ph idx="1" type="body"/>
          </p:nvPr>
        </p:nvSpPr>
        <p:spPr>
          <a:xfrm>
            <a:off x="7759700" y="381000"/>
            <a:ext cx="11557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/>
              <a:t>17</a:t>
            </a: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/>
              <a:t>11</a:t>
            </a: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/>
              <a:t>2025</a:t>
            </a:r>
            <a:endParaRPr/>
          </a:p>
        </p:txBody>
      </p:sp>
      <p:sp>
        <p:nvSpPr>
          <p:cNvPr id="69" name="Google Shape;69;p1"/>
          <p:cNvSpPr txBox="1"/>
          <p:nvPr>
            <p:ph idx="1" type="body"/>
          </p:nvPr>
        </p:nvSpPr>
        <p:spPr>
          <a:xfrm>
            <a:off x="9245600" y="381000"/>
            <a:ext cx="4127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/>
              <a:t>1.0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247650" y="6457950"/>
            <a:ext cx="94107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700"/>
              <a:buFont typeface="Arial"/>
              <a:buNone/>
            </a:pPr>
            <a:r>
              <a:rPr b="0" i="0" lang="en-US" sz="7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Designed by: The Business Model Foundry (</a:t>
            </a:r>
            <a:r>
              <a:rPr b="0" i="0" lang="en-US" sz="700" u="sng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www.businessmodelgeneration.com/canvas</a:t>
            </a:r>
            <a:r>
              <a:rPr b="0" i="0" lang="en-US" sz="7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). PowerPoint implementation by: Neos Chronos Limited </a:t>
            </a:r>
            <a:r>
              <a:rPr b="0" i="0" lang="en-US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https://neoschronos.com</a:t>
            </a:r>
            <a:r>
              <a:rPr b="0" i="0" lang="en-US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License: </a:t>
            </a:r>
            <a:r>
              <a:rPr b="0" i="0" lang="en-US" sz="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 3.0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Neos Chronos">
      <a:dk1>
        <a:srgbClr val="444444"/>
      </a:dk1>
      <a:lt1>
        <a:srgbClr val="FFFFFF"/>
      </a:lt1>
      <a:dk2>
        <a:srgbClr val="222222"/>
      </a:dk2>
      <a:lt2>
        <a:srgbClr val="F3F3F3"/>
      </a:lt2>
      <a:accent1>
        <a:srgbClr val="669933"/>
      </a:accent1>
      <a:accent2>
        <a:srgbClr val="38BEEA"/>
      </a:accent2>
      <a:accent3>
        <a:srgbClr val="EA38C0"/>
      </a:accent3>
      <a:accent4>
        <a:srgbClr val="EABB38"/>
      </a:accent4>
      <a:accent5>
        <a:srgbClr val="788C92"/>
      </a:accent5>
      <a:accent6>
        <a:srgbClr val="EA6238"/>
      </a:accent6>
      <a:hlink>
        <a:srgbClr val="787828"/>
      </a:hlink>
      <a:folHlink>
        <a:srgbClr val="9AA2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2019-04-01T16:49:19Z</dcterms:created>
  <dc:creator>DUOC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